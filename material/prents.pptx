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5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61" r:id="rId6"/>
    <p:sldId id="2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A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48"/>
    <p:restoredTop sz="94694"/>
  </p:normalViewPr>
  <p:slideViewPr>
    <p:cSldViewPr snapToGrid="0">
      <p:cViewPr varScale="1">
        <p:scale>
          <a:sx n="152" d="100"/>
          <a:sy n="152" d="100"/>
        </p:scale>
        <p:origin x="4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0E3A92-BE59-3B47-92DF-23B9479D1B6A}" type="datetimeFigureOut">
              <a:rPr lang="de-DE" smtClean="0"/>
              <a:t>17.03.26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2D11CA-6BAD-D043-A800-690A29972A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0433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2D11CA-6BAD-D043-A800-690A29972A9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3889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2D11CA-6BAD-D043-A800-690A29972A92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89641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2D11CA-6BAD-D043-A800-690A29972A92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94269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3141F-070E-D3D6-075B-A50B5F2F6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6FC92D0-8542-E5D7-DAEB-C94B245B6C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09DA326-0935-A9EF-4AD5-16EFDA92FA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98E7F8A-5B20-F59E-E324-5DE9C980A6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2D11CA-6BAD-D043-A800-690A29972A92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47377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CD08B-D298-FA58-4AE9-C5F425383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F58C9D9-198E-B27C-A84E-4BCEA95923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C928C9F-2B86-311D-F8F0-E6F26BE9F1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0173C37-8713-70F3-2812-75C2DD6F60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2D11CA-6BAD-D043-A800-690A29972A92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81585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C807B-E0A1-AF68-32DE-B50FDBD32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CBA2574-E74E-7781-AD7A-FE4B6DD693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5142DEE-2F55-BC71-AEEF-1199E4F4AB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A60DB76-B43B-24BE-1F08-A29272810F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2D11CA-6BAD-D043-A800-690A29972A92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0827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3/17/26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6291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7034F-E54B-704B-A585-D93224944678}" type="datetimeFigureOut">
              <a:rPr lang="de-DE" smtClean="0"/>
              <a:t>17.03.26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12509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3/17/26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8236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7034F-E54B-704B-A585-D93224944678}" type="datetimeFigureOut">
              <a:rPr lang="de-DE" smtClean="0"/>
              <a:t>17.03.26</a:t>
            </a:fld>
            <a:endParaRPr lang="de-DE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B9782-6C7D-654A-BFFE-5BEEB9CB46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293106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3/17/26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46894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7034F-E54B-704B-A585-D93224944678}" type="datetimeFigureOut">
              <a:rPr lang="de-DE" smtClean="0"/>
              <a:t>17.03.26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B9782-6C7D-654A-BFFE-5BEEB9CB46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490602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7034F-E54B-704B-A585-D93224944678}" type="datetimeFigureOut">
              <a:rPr lang="de-DE" smtClean="0"/>
              <a:t>17.03.26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B9782-6C7D-654A-BFFE-5BEEB9CB46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956568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96976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E31BA835-12AC-4E8F-955A-EA3F4DE2791F}" type="datetime1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05972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94125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36639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454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 descr="Ein Bild, das Menschliches Gesicht, Screenshot, Kunst, Dunkelheit enthält.&#10;&#10;KI-generierte Inhalte können fehlerhaft sein.">
            <a:extLst>
              <a:ext uri="{FF2B5EF4-FFF2-40B4-BE49-F238E27FC236}">
                <a16:creationId xmlns:a16="http://schemas.microsoft.com/office/drawing/2014/main" id="{BEE93FFB-6331-027A-89CA-093620A00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060000" cy="6783750"/>
          </a:xfrm>
          <a:prstGeom prst="rect">
            <a:avLst/>
          </a:prstGeom>
        </p:spPr>
      </p:pic>
      <p:sp>
        <p:nvSpPr>
          <p:cNvPr id="52" name="Titel 1">
            <a:extLst>
              <a:ext uri="{FF2B5EF4-FFF2-40B4-BE49-F238E27FC236}">
                <a16:creationId xmlns:a16="http://schemas.microsoft.com/office/drawing/2014/main" id="{E3930768-8178-4C7F-FA57-1882B587A5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715000"/>
            <a:ext cx="8027544" cy="960120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de-DE" sz="3600" dirty="0"/>
              <a:t>SYNDERAI FIGURES</a:t>
            </a:r>
          </a:p>
        </p:txBody>
      </p:sp>
      <p:sp>
        <p:nvSpPr>
          <p:cNvPr id="53" name="Untertitel 2">
            <a:extLst>
              <a:ext uri="{FF2B5EF4-FFF2-40B4-BE49-F238E27FC236}">
                <a16:creationId xmlns:a16="http://schemas.microsoft.com/office/drawing/2014/main" id="{7C932E07-0C3F-D222-0DE4-FF54C8181F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47585" y="5715000"/>
            <a:ext cx="3630168" cy="960120"/>
          </a:xfrm>
          <a:solidFill>
            <a:schemeClr val="accent6"/>
          </a:solidFill>
        </p:spPr>
        <p:txBody>
          <a:bodyPr anchor="ctr">
            <a:normAutofit/>
          </a:bodyPr>
          <a:lstStyle/>
          <a:p>
            <a:r>
              <a:rPr lang="de-DE" sz="18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Dr. K. Heitmann, HL7 Europe</a:t>
            </a:r>
          </a:p>
        </p:txBody>
      </p:sp>
    </p:spTree>
    <p:extLst>
      <p:ext uri="{BB962C8B-B14F-4D97-AF65-F5344CB8AC3E}">
        <p14:creationId xmlns:p14="http://schemas.microsoft.com/office/powerpoint/2010/main" val="3897364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DDA496E3-3B0A-F7AB-34ED-9A388525E66E}"/>
              </a:ext>
            </a:extLst>
          </p:cNvPr>
          <p:cNvSpPr/>
          <p:nvPr/>
        </p:nvSpPr>
        <p:spPr>
          <a:xfrm>
            <a:off x="1267442" y="1997295"/>
            <a:ext cx="6425513" cy="4457700"/>
          </a:xfrm>
          <a:prstGeom prst="roundRect">
            <a:avLst>
              <a:gd name="adj" fmla="val 8013"/>
            </a:avLst>
          </a:prstGeom>
          <a:gradFill>
            <a:gsLst>
              <a:gs pos="0">
                <a:srgbClr val="7030A0">
                  <a:alpha val="31149"/>
                </a:srgbClr>
              </a:gs>
              <a:gs pos="58000">
                <a:schemeClr val="accent2">
                  <a:lumMod val="40000"/>
                  <a:lumOff val="60000"/>
                </a:schemeClr>
              </a:gs>
              <a:gs pos="100000">
                <a:srgbClr val="7030A0"/>
              </a:gs>
            </a:gsLst>
            <a:lin ang="5400000" scaled="0"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SYNDERAI example instance </a:t>
            </a:r>
            <a:r>
              <a:rPr lang="en-US">
                <a:solidFill>
                  <a:srgbClr val="7030A0"/>
                </a:solidFill>
              </a:rPr>
              <a:t>generation kernel</a:t>
            </a:r>
            <a:endParaRPr lang="en-US" dirty="0">
              <a:solidFill>
                <a:srgbClr val="7030A0"/>
              </a:solidFill>
            </a:endParaRP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24AB5B72-443F-8353-8803-B97EDE4E5439}"/>
              </a:ext>
            </a:extLst>
          </p:cNvPr>
          <p:cNvCxnSpPr>
            <a:cxnSpLocks/>
          </p:cNvCxnSpPr>
          <p:nvPr/>
        </p:nvCxnSpPr>
        <p:spPr>
          <a:xfrm>
            <a:off x="1750870" y="1413439"/>
            <a:ext cx="0" cy="1307756"/>
          </a:xfrm>
          <a:prstGeom prst="straightConnector1">
            <a:avLst/>
          </a:prstGeom>
          <a:ln w="889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Abgerundetes Rechteck 21">
            <a:extLst>
              <a:ext uri="{FF2B5EF4-FFF2-40B4-BE49-F238E27FC236}">
                <a16:creationId xmlns:a16="http://schemas.microsoft.com/office/drawing/2014/main" id="{7220F5C7-7804-D260-68D0-E349F2AC3D82}"/>
              </a:ext>
            </a:extLst>
          </p:cNvPr>
          <p:cNvSpPr/>
          <p:nvPr/>
        </p:nvSpPr>
        <p:spPr>
          <a:xfrm>
            <a:off x="1446614" y="2721195"/>
            <a:ext cx="6067168" cy="782401"/>
          </a:xfrm>
          <a:prstGeom prst="round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Testing, collecting and pre-compiling meta data</a:t>
            </a:r>
          </a:p>
        </p:txBody>
      </p:sp>
      <p:sp>
        <p:nvSpPr>
          <p:cNvPr id="42" name="Zylinder 41">
            <a:extLst>
              <a:ext uri="{FF2B5EF4-FFF2-40B4-BE49-F238E27FC236}">
                <a16:creationId xmlns:a16="http://schemas.microsoft.com/office/drawing/2014/main" id="{85A2C562-33FB-6743-8F91-A23F1ACF76EF}"/>
              </a:ext>
            </a:extLst>
          </p:cNvPr>
          <p:cNvSpPr/>
          <p:nvPr/>
        </p:nvSpPr>
        <p:spPr>
          <a:xfrm>
            <a:off x="1267443" y="467889"/>
            <a:ext cx="2928550" cy="966917"/>
          </a:xfrm>
          <a:prstGeom prst="can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Synthetic Clinical Stories </a:t>
            </a:r>
          </a:p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by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Synthea</a:t>
            </a:r>
            <a:r>
              <a:rPr lang="en-US" baseline="30000" dirty="0" err="1">
                <a:solidFill>
                  <a:schemeClr val="bg1">
                    <a:lumMod val="95000"/>
                  </a:schemeClr>
                </a:solidFill>
              </a:rPr>
              <a:t>TM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</a:p>
        </p:txBody>
      </p:sp>
      <p:sp>
        <p:nvSpPr>
          <p:cNvPr id="43" name="Zylinder 42">
            <a:extLst>
              <a:ext uri="{FF2B5EF4-FFF2-40B4-BE49-F238E27FC236}">
                <a16:creationId xmlns:a16="http://schemas.microsoft.com/office/drawing/2014/main" id="{B5DF7398-2AEF-A9E4-4208-0215C56C57F0}"/>
              </a:ext>
            </a:extLst>
          </p:cNvPr>
          <p:cNvSpPr/>
          <p:nvPr/>
        </p:nvSpPr>
        <p:spPr>
          <a:xfrm>
            <a:off x="4764406" y="467889"/>
            <a:ext cx="2928550" cy="966917"/>
          </a:xfrm>
          <a:prstGeom prst="can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32k+ Synthetic</a:t>
            </a:r>
          </a:p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European Citizen data</a:t>
            </a:r>
          </a:p>
        </p:txBody>
      </p: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8E73FD48-E8FC-C4EE-BFFE-7670ACCCE3EE}"/>
              </a:ext>
            </a:extLst>
          </p:cNvPr>
          <p:cNvCxnSpPr>
            <a:cxnSpLocks/>
          </p:cNvCxnSpPr>
          <p:nvPr/>
        </p:nvCxnSpPr>
        <p:spPr>
          <a:xfrm>
            <a:off x="7196143" y="1419041"/>
            <a:ext cx="0" cy="1302154"/>
          </a:xfrm>
          <a:prstGeom prst="straightConnector1">
            <a:avLst/>
          </a:prstGeom>
          <a:ln w="889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Abgerundetes Rechteck 72">
            <a:extLst>
              <a:ext uri="{FF2B5EF4-FFF2-40B4-BE49-F238E27FC236}">
                <a16:creationId xmlns:a16="http://schemas.microsoft.com/office/drawing/2014/main" id="{17D2CE1E-91DA-B14A-BBAB-69AA4F07B453}"/>
              </a:ext>
            </a:extLst>
          </p:cNvPr>
          <p:cNvSpPr/>
          <p:nvPr/>
        </p:nvSpPr>
        <p:spPr>
          <a:xfrm>
            <a:off x="1446614" y="3618432"/>
            <a:ext cx="6067168" cy="782401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Pairing clinical stories and demographics</a:t>
            </a:r>
            <a:br>
              <a:rPr lang="en-US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data using stratification</a:t>
            </a:r>
          </a:p>
        </p:txBody>
      </p:sp>
      <p:sp>
        <p:nvSpPr>
          <p:cNvPr id="74" name="Abgerundetes Rechteck 73">
            <a:extLst>
              <a:ext uri="{FF2B5EF4-FFF2-40B4-BE49-F238E27FC236}">
                <a16:creationId xmlns:a16="http://schemas.microsoft.com/office/drawing/2014/main" id="{E86DCCA5-1B43-9243-CEC6-BBFB13614FDA}"/>
              </a:ext>
            </a:extLst>
          </p:cNvPr>
          <p:cNvSpPr/>
          <p:nvPr/>
        </p:nvSpPr>
        <p:spPr>
          <a:xfrm>
            <a:off x="1446614" y="4515669"/>
            <a:ext cx="6067168" cy="782401"/>
          </a:xfrm>
          <a:prstGeom prst="round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Processing synthetic patient`s clinical stories</a:t>
            </a:r>
          </a:p>
        </p:txBody>
      </p:sp>
      <p:sp>
        <p:nvSpPr>
          <p:cNvPr id="75" name="Abgerundetes Rechteck 74">
            <a:extLst>
              <a:ext uri="{FF2B5EF4-FFF2-40B4-BE49-F238E27FC236}">
                <a16:creationId xmlns:a16="http://schemas.microsoft.com/office/drawing/2014/main" id="{FBCDDC74-8CA7-A40F-1F99-565283C8C75E}"/>
              </a:ext>
            </a:extLst>
          </p:cNvPr>
          <p:cNvSpPr/>
          <p:nvPr/>
        </p:nvSpPr>
        <p:spPr>
          <a:xfrm>
            <a:off x="1446614" y="5412907"/>
            <a:ext cx="6067168" cy="782401"/>
          </a:xfrm>
          <a:prstGeom prst="round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Emitting FSH</a:t>
            </a:r>
          </a:p>
        </p:txBody>
      </p:sp>
      <p:sp>
        <p:nvSpPr>
          <p:cNvPr id="79" name="Träne 78">
            <a:extLst>
              <a:ext uri="{FF2B5EF4-FFF2-40B4-BE49-F238E27FC236}">
                <a16:creationId xmlns:a16="http://schemas.microsoft.com/office/drawing/2014/main" id="{80B46029-0414-08AD-503C-000BA621B827}"/>
              </a:ext>
            </a:extLst>
          </p:cNvPr>
          <p:cNvSpPr/>
          <p:nvPr/>
        </p:nvSpPr>
        <p:spPr>
          <a:xfrm>
            <a:off x="696726" y="1530940"/>
            <a:ext cx="481130" cy="365930"/>
          </a:xfrm>
          <a:prstGeom prst="teardrop">
            <a:avLst>
              <a:gd name="adj" fmla="val 200000"/>
            </a:avLst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7030A0"/>
                </a:solidFill>
              </a:rPr>
              <a:t>1</a:t>
            </a:r>
          </a:p>
        </p:txBody>
      </p:sp>
      <p:sp>
        <p:nvSpPr>
          <p:cNvPr id="82" name="Träne 81">
            <a:extLst>
              <a:ext uri="{FF2B5EF4-FFF2-40B4-BE49-F238E27FC236}">
                <a16:creationId xmlns:a16="http://schemas.microsoft.com/office/drawing/2014/main" id="{B8EA5A54-2274-AC67-1F98-5240579336E9}"/>
              </a:ext>
            </a:extLst>
          </p:cNvPr>
          <p:cNvSpPr/>
          <p:nvPr/>
        </p:nvSpPr>
        <p:spPr>
          <a:xfrm>
            <a:off x="4221514" y="1530940"/>
            <a:ext cx="481130" cy="365930"/>
          </a:xfrm>
          <a:prstGeom prst="teardrop">
            <a:avLst>
              <a:gd name="adj" fmla="val 200000"/>
            </a:avLst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83" name="Träne 82">
            <a:extLst>
              <a:ext uri="{FF2B5EF4-FFF2-40B4-BE49-F238E27FC236}">
                <a16:creationId xmlns:a16="http://schemas.microsoft.com/office/drawing/2014/main" id="{94BFEE6B-C18B-7264-603A-6B4313B88B8B}"/>
              </a:ext>
            </a:extLst>
          </p:cNvPr>
          <p:cNvSpPr/>
          <p:nvPr/>
        </p:nvSpPr>
        <p:spPr>
          <a:xfrm>
            <a:off x="696726" y="2300815"/>
            <a:ext cx="481130" cy="365930"/>
          </a:xfrm>
          <a:prstGeom prst="teardrop">
            <a:avLst>
              <a:gd name="adj" fmla="val 200000"/>
            </a:avLst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7030A0"/>
                </a:solidFill>
              </a:rPr>
              <a:t>3</a:t>
            </a:r>
          </a:p>
        </p:txBody>
      </p:sp>
      <p:sp>
        <p:nvSpPr>
          <p:cNvPr id="84" name="Träne 83">
            <a:extLst>
              <a:ext uri="{FF2B5EF4-FFF2-40B4-BE49-F238E27FC236}">
                <a16:creationId xmlns:a16="http://schemas.microsoft.com/office/drawing/2014/main" id="{2CCEAC04-EE29-1E4F-8468-1B5CC30C271E}"/>
              </a:ext>
            </a:extLst>
          </p:cNvPr>
          <p:cNvSpPr/>
          <p:nvPr/>
        </p:nvSpPr>
        <p:spPr>
          <a:xfrm>
            <a:off x="696726" y="3182956"/>
            <a:ext cx="481130" cy="365930"/>
          </a:xfrm>
          <a:prstGeom prst="teardrop">
            <a:avLst>
              <a:gd name="adj" fmla="val 200000"/>
            </a:avLst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7030A0"/>
                </a:solidFill>
              </a:rPr>
              <a:t>4</a:t>
            </a:r>
          </a:p>
        </p:txBody>
      </p:sp>
      <p:sp>
        <p:nvSpPr>
          <p:cNvPr id="85" name="Träne 84">
            <a:extLst>
              <a:ext uri="{FF2B5EF4-FFF2-40B4-BE49-F238E27FC236}">
                <a16:creationId xmlns:a16="http://schemas.microsoft.com/office/drawing/2014/main" id="{70F3D171-B227-AB5C-06E9-4BAC60458EA0}"/>
              </a:ext>
            </a:extLst>
          </p:cNvPr>
          <p:cNvSpPr/>
          <p:nvPr/>
        </p:nvSpPr>
        <p:spPr>
          <a:xfrm>
            <a:off x="696726" y="4065097"/>
            <a:ext cx="481130" cy="365930"/>
          </a:xfrm>
          <a:prstGeom prst="teardrop">
            <a:avLst>
              <a:gd name="adj" fmla="val 200000"/>
            </a:avLst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7030A0"/>
                </a:solidFill>
              </a:rPr>
              <a:t>5</a:t>
            </a:r>
          </a:p>
        </p:txBody>
      </p:sp>
      <p:sp>
        <p:nvSpPr>
          <p:cNvPr id="86" name="Träne 85">
            <a:extLst>
              <a:ext uri="{FF2B5EF4-FFF2-40B4-BE49-F238E27FC236}">
                <a16:creationId xmlns:a16="http://schemas.microsoft.com/office/drawing/2014/main" id="{5B37B4A7-3B8D-23CA-F642-8C69D7F2CA81}"/>
              </a:ext>
            </a:extLst>
          </p:cNvPr>
          <p:cNvSpPr/>
          <p:nvPr/>
        </p:nvSpPr>
        <p:spPr>
          <a:xfrm>
            <a:off x="696726" y="4947238"/>
            <a:ext cx="481130" cy="365930"/>
          </a:xfrm>
          <a:prstGeom prst="teardrop">
            <a:avLst>
              <a:gd name="adj" fmla="val 200000"/>
            </a:avLst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7030A0"/>
                </a:solidFill>
              </a:rPr>
              <a:t>6</a:t>
            </a:r>
          </a:p>
        </p:txBody>
      </p:sp>
      <p:sp>
        <p:nvSpPr>
          <p:cNvPr id="87" name="Träne 86">
            <a:extLst>
              <a:ext uri="{FF2B5EF4-FFF2-40B4-BE49-F238E27FC236}">
                <a16:creationId xmlns:a16="http://schemas.microsoft.com/office/drawing/2014/main" id="{10E038DF-674E-8169-B4FE-2847E77F67C2}"/>
              </a:ext>
            </a:extLst>
          </p:cNvPr>
          <p:cNvSpPr/>
          <p:nvPr/>
        </p:nvSpPr>
        <p:spPr>
          <a:xfrm>
            <a:off x="696726" y="5829378"/>
            <a:ext cx="481130" cy="365930"/>
          </a:xfrm>
          <a:prstGeom prst="teardrop">
            <a:avLst>
              <a:gd name="adj" fmla="val 200000"/>
            </a:avLst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7030A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60930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C2647-66B0-4A12-4BC6-A460F7D1A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Abgerundetes Rechteck 64">
            <a:extLst>
              <a:ext uri="{FF2B5EF4-FFF2-40B4-BE49-F238E27FC236}">
                <a16:creationId xmlns:a16="http://schemas.microsoft.com/office/drawing/2014/main" id="{6DA6E44E-7DA7-A027-69C6-2144701FE664}"/>
              </a:ext>
            </a:extLst>
          </p:cNvPr>
          <p:cNvSpPr/>
          <p:nvPr/>
        </p:nvSpPr>
        <p:spPr>
          <a:xfrm>
            <a:off x="684190" y="281833"/>
            <a:ext cx="6425513" cy="951469"/>
          </a:xfrm>
          <a:prstGeom prst="roundRect">
            <a:avLst>
              <a:gd name="adj" fmla="val 8013"/>
            </a:avLst>
          </a:prstGeom>
          <a:gradFill>
            <a:gsLst>
              <a:gs pos="0">
                <a:srgbClr val="7030A0">
                  <a:alpha val="31149"/>
                </a:srgbClr>
              </a:gs>
              <a:gs pos="58000">
                <a:schemeClr val="accent2">
                  <a:lumMod val="40000"/>
                  <a:lumOff val="60000"/>
                </a:schemeClr>
              </a:gs>
              <a:gs pos="100000">
                <a:srgbClr val="7030A0"/>
              </a:gs>
            </a:gsLst>
            <a:lin ang="5400000" scaled="0"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SYNDERAI example instance generation kernel</a:t>
            </a:r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B17105B1-1B70-B85C-1C57-DD2599C29BEB}"/>
              </a:ext>
            </a:extLst>
          </p:cNvPr>
          <p:cNvSpPr/>
          <p:nvPr/>
        </p:nvSpPr>
        <p:spPr>
          <a:xfrm>
            <a:off x="1524157" y="1967097"/>
            <a:ext cx="4720281" cy="951470"/>
          </a:xfrm>
          <a:prstGeom prst="round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SUSHI compiler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C0B544EA-31CD-C3E3-F1D4-550EEBA1AFCC}"/>
              </a:ext>
            </a:extLst>
          </p:cNvPr>
          <p:cNvSpPr/>
          <p:nvPr/>
        </p:nvSpPr>
        <p:spPr>
          <a:xfrm>
            <a:off x="684194" y="3650704"/>
            <a:ext cx="2829697" cy="951470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Conversion</a:t>
            </a:r>
            <a:br>
              <a:rPr lang="en-US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FHIR JSON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sym typeface="Wingdings" pitchFamily="2" charset="2"/>
              </a:rPr>
              <a:t>to XML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847066BD-DF72-4CA0-6E2B-195E1F1BE229}"/>
              </a:ext>
            </a:extLst>
          </p:cNvPr>
          <p:cNvSpPr/>
          <p:nvPr/>
        </p:nvSpPr>
        <p:spPr>
          <a:xfrm>
            <a:off x="4280010" y="3650704"/>
            <a:ext cx="2829697" cy="951470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Validation of</a:t>
            </a:r>
            <a:br>
              <a:rPr lang="en-US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FHIR JSON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6C5EF809-7DD4-6551-828E-57C33C12AFF6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3884298" y="1234960"/>
            <a:ext cx="0" cy="732137"/>
          </a:xfrm>
          <a:prstGeom prst="straightConnector1">
            <a:avLst/>
          </a:prstGeom>
          <a:ln w="889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51323F9E-DBCB-ED3D-30FD-C453FC15C646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2099043" y="2918567"/>
            <a:ext cx="1785255" cy="732137"/>
          </a:xfrm>
          <a:prstGeom prst="straightConnector1">
            <a:avLst/>
          </a:prstGeom>
          <a:ln w="889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5DAEB245-F229-21ED-A96F-1EFAA50B641A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3884298" y="2918567"/>
            <a:ext cx="1810561" cy="732137"/>
          </a:xfrm>
          <a:prstGeom prst="straightConnector1">
            <a:avLst/>
          </a:prstGeom>
          <a:ln w="889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Abgerundetes Rechteck 29">
            <a:extLst>
              <a:ext uri="{FF2B5EF4-FFF2-40B4-BE49-F238E27FC236}">
                <a16:creationId xmlns:a16="http://schemas.microsoft.com/office/drawing/2014/main" id="{90596EF5-17E9-21BB-9435-D90B1D1744FB}"/>
              </a:ext>
            </a:extLst>
          </p:cNvPr>
          <p:cNvSpPr/>
          <p:nvPr/>
        </p:nvSpPr>
        <p:spPr>
          <a:xfrm>
            <a:off x="8452477" y="3650704"/>
            <a:ext cx="2829697" cy="951470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AI analyzing the </a:t>
            </a:r>
          </a:p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validation logs</a:t>
            </a:r>
          </a:p>
        </p:txBody>
      </p:sp>
      <p:sp>
        <p:nvSpPr>
          <p:cNvPr id="31" name="Abgerundetes Rechteck 30">
            <a:extLst>
              <a:ext uri="{FF2B5EF4-FFF2-40B4-BE49-F238E27FC236}">
                <a16:creationId xmlns:a16="http://schemas.microsoft.com/office/drawing/2014/main" id="{F713F616-7683-2AE9-5871-BB01235D6EB3}"/>
              </a:ext>
            </a:extLst>
          </p:cNvPr>
          <p:cNvSpPr/>
          <p:nvPr/>
        </p:nvSpPr>
        <p:spPr>
          <a:xfrm>
            <a:off x="8452476" y="1967097"/>
            <a:ext cx="2829697" cy="951470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Creating SYNDERAI</a:t>
            </a:r>
            <a:br>
              <a:rPr lang="en-US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GitHub issues</a:t>
            </a:r>
          </a:p>
        </p:txBody>
      </p:sp>
      <p:sp>
        <p:nvSpPr>
          <p:cNvPr id="32" name="Abgerundetes Rechteck 31">
            <a:extLst>
              <a:ext uri="{FF2B5EF4-FFF2-40B4-BE49-F238E27FC236}">
                <a16:creationId xmlns:a16="http://schemas.microsoft.com/office/drawing/2014/main" id="{2989B884-B890-64CA-982C-5F387CF40297}"/>
              </a:ext>
            </a:extLst>
          </p:cNvPr>
          <p:cNvSpPr/>
          <p:nvPr/>
        </p:nvSpPr>
        <p:spPr>
          <a:xfrm>
            <a:off x="8452475" y="283491"/>
            <a:ext cx="2829697" cy="951469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Processing GitHub issues</a:t>
            </a:r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329C73C3-B5C6-1FDE-BE90-A142BD3A81AC}"/>
              </a:ext>
            </a:extLst>
          </p:cNvPr>
          <p:cNvCxnSpPr>
            <a:cxnSpLocks/>
            <a:stCxn id="7" idx="3"/>
            <a:endCxn id="30" idx="1"/>
          </p:cNvCxnSpPr>
          <p:nvPr/>
        </p:nvCxnSpPr>
        <p:spPr>
          <a:xfrm>
            <a:off x="7109707" y="4126439"/>
            <a:ext cx="1342770" cy="0"/>
          </a:xfrm>
          <a:prstGeom prst="straightConnector1">
            <a:avLst/>
          </a:prstGeom>
          <a:ln w="889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6D532115-068C-7130-2BA3-6F4699F43B6B}"/>
              </a:ext>
            </a:extLst>
          </p:cNvPr>
          <p:cNvCxnSpPr>
            <a:cxnSpLocks/>
            <a:stCxn id="30" idx="0"/>
            <a:endCxn id="31" idx="2"/>
          </p:cNvCxnSpPr>
          <p:nvPr/>
        </p:nvCxnSpPr>
        <p:spPr>
          <a:xfrm flipH="1" flipV="1">
            <a:off x="9867325" y="2918567"/>
            <a:ext cx="1" cy="732137"/>
          </a:xfrm>
          <a:prstGeom prst="straightConnector1">
            <a:avLst/>
          </a:prstGeom>
          <a:ln w="889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8ADC8F74-7B3C-1DDA-0B26-AB36DC91C48C}"/>
              </a:ext>
            </a:extLst>
          </p:cNvPr>
          <p:cNvCxnSpPr>
            <a:cxnSpLocks/>
            <a:stCxn id="31" idx="0"/>
            <a:endCxn id="32" idx="2"/>
          </p:cNvCxnSpPr>
          <p:nvPr/>
        </p:nvCxnSpPr>
        <p:spPr>
          <a:xfrm flipH="1" flipV="1">
            <a:off x="9867324" y="1234960"/>
            <a:ext cx="1" cy="732137"/>
          </a:xfrm>
          <a:prstGeom prst="straightConnector1">
            <a:avLst/>
          </a:prstGeom>
          <a:ln w="889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4638DEFC-3892-2CE7-2B93-3867346E63E8}"/>
              </a:ext>
            </a:extLst>
          </p:cNvPr>
          <p:cNvCxnSpPr>
            <a:cxnSpLocks/>
            <a:stCxn id="32" idx="1"/>
          </p:cNvCxnSpPr>
          <p:nvPr/>
        </p:nvCxnSpPr>
        <p:spPr>
          <a:xfrm flipH="1" flipV="1">
            <a:off x="7109707" y="759225"/>
            <a:ext cx="1342768" cy="1"/>
          </a:xfrm>
          <a:prstGeom prst="straightConnector1">
            <a:avLst/>
          </a:prstGeom>
          <a:ln w="889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47">
            <a:extLst>
              <a:ext uri="{FF2B5EF4-FFF2-40B4-BE49-F238E27FC236}">
                <a16:creationId xmlns:a16="http://schemas.microsoft.com/office/drawing/2014/main" id="{EA66EAC8-DEB6-98DC-863E-073CBE631C48}"/>
              </a:ext>
            </a:extLst>
          </p:cNvPr>
          <p:cNvSpPr txBox="1"/>
          <p:nvPr/>
        </p:nvSpPr>
        <p:spPr>
          <a:xfrm>
            <a:off x="1524152" y="3024969"/>
            <a:ext cx="47202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forked                                      forked</a:t>
            </a:r>
            <a:endParaRPr lang="de-DE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0" name="Träne 49">
            <a:extLst>
              <a:ext uri="{FF2B5EF4-FFF2-40B4-BE49-F238E27FC236}">
                <a16:creationId xmlns:a16="http://schemas.microsoft.com/office/drawing/2014/main" id="{FBCF66D5-7E37-E397-40C8-179BDE2F1412}"/>
              </a:ext>
            </a:extLst>
          </p:cNvPr>
          <p:cNvSpPr/>
          <p:nvPr/>
        </p:nvSpPr>
        <p:spPr>
          <a:xfrm>
            <a:off x="639126" y="1365340"/>
            <a:ext cx="481130" cy="365930"/>
          </a:xfrm>
          <a:prstGeom prst="teardrop">
            <a:avLst>
              <a:gd name="adj" fmla="val 200000"/>
            </a:avLst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7030A0"/>
                </a:solidFill>
              </a:rPr>
              <a:t>1</a:t>
            </a:r>
          </a:p>
        </p:txBody>
      </p:sp>
      <p:sp>
        <p:nvSpPr>
          <p:cNvPr id="51" name="Träne 50">
            <a:extLst>
              <a:ext uri="{FF2B5EF4-FFF2-40B4-BE49-F238E27FC236}">
                <a16:creationId xmlns:a16="http://schemas.microsoft.com/office/drawing/2014/main" id="{CCF191B9-F005-098F-0127-5049A20CE3E4}"/>
              </a:ext>
            </a:extLst>
          </p:cNvPr>
          <p:cNvSpPr/>
          <p:nvPr/>
        </p:nvSpPr>
        <p:spPr>
          <a:xfrm>
            <a:off x="965851" y="2788464"/>
            <a:ext cx="481130" cy="365930"/>
          </a:xfrm>
          <a:prstGeom prst="teardrop">
            <a:avLst>
              <a:gd name="adj" fmla="val 200000"/>
            </a:avLst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52" name="Träne 51">
            <a:extLst>
              <a:ext uri="{FF2B5EF4-FFF2-40B4-BE49-F238E27FC236}">
                <a16:creationId xmlns:a16="http://schemas.microsoft.com/office/drawing/2014/main" id="{C5646C7F-4A80-FC10-39BF-E9CBA42A8428}"/>
              </a:ext>
            </a:extLst>
          </p:cNvPr>
          <p:cNvSpPr/>
          <p:nvPr/>
        </p:nvSpPr>
        <p:spPr>
          <a:xfrm>
            <a:off x="580178" y="4672984"/>
            <a:ext cx="481130" cy="365930"/>
          </a:xfrm>
          <a:prstGeom prst="teardrop">
            <a:avLst>
              <a:gd name="adj" fmla="val 200000"/>
            </a:avLst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7030A0"/>
                </a:solidFill>
              </a:rPr>
              <a:t>3</a:t>
            </a:r>
          </a:p>
        </p:txBody>
      </p:sp>
      <p:sp>
        <p:nvSpPr>
          <p:cNvPr id="53" name="Träne 52">
            <a:extLst>
              <a:ext uri="{FF2B5EF4-FFF2-40B4-BE49-F238E27FC236}">
                <a16:creationId xmlns:a16="http://schemas.microsoft.com/office/drawing/2014/main" id="{3AA2E11B-974D-24D2-689C-2C9DC6D10B56}"/>
              </a:ext>
            </a:extLst>
          </p:cNvPr>
          <p:cNvSpPr/>
          <p:nvPr/>
        </p:nvSpPr>
        <p:spPr>
          <a:xfrm flipH="1">
            <a:off x="7041146" y="4672984"/>
            <a:ext cx="451621" cy="365930"/>
          </a:xfrm>
          <a:prstGeom prst="teardrop">
            <a:avLst>
              <a:gd name="adj" fmla="val 200000"/>
            </a:avLst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7030A0"/>
                </a:solidFill>
              </a:rPr>
              <a:t>4</a:t>
            </a:r>
          </a:p>
        </p:txBody>
      </p:sp>
      <p:sp>
        <p:nvSpPr>
          <p:cNvPr id="54" name="Träne 53">
            <a:extLst>
              <a:ext uri="{FF2B5EF4-FFF2-40B4-BE49-F238E27FC236}">
                <a16:creationId xmlns:a16="http://schemas.microsoft.com/office/drawing/2014/main" id="{C869E57F-9520-6C9A-FB42-9BB27942436C}"/>
              </a:ext>
            </a:extLst>
          </p:cNvPr>
          <p:cNvSpPr/>
          <p:nvPr/>
        </p:nvSpPr>
        <p:spPr>
          <a:xfrm flipH="1">
            <a:off x="11272764" y="4672984"/>
            <a:ext cx="451621" cy="365930"/>
          </a:xfrm>
          <a:prstGeom prst="teardrop">
            <a:avLst>
              <a:gd name="adj" fmla="val 200000"/>
            </a:avLst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7030A0"/>
                </a:solidFill>
              </a:rPr>
              <a:t>5</a:t>
            </a:r>
          </a:p>
        </p:txBody>
      </p:sp>
      <p:sp>
        <p:nvSpPr>
          <p:cNvPr id="55" name="Träne 54">
            <a:extLst>
              <a:ext uri="{FF2B5EF4-FFF2-40B4-BE49-F238E27FC236}">
                <a16:creationId xmlns:a16="http://schemas.microsoft.com/office/drawing/2014/main" id="{ECACDF36-5908-B13F-9D6D-7D97F8A9F9B2}"/>
              </a:ext>
            </a:extLst>
          </p:cNvPr>
          <p:cNvSpPr/>
          <p:nvPr/>
        </p:nvSpPr>
        <p:spPr>
          <a:xfrm flipH="1">
            <a:off x="11282172" y="2989378"/>
            <a:ext cx="451621" cy="365930"/>
          </a:xfrm>
          <a:prstGeom prst="teardrop">
            <a:avLst>
              <a:gd name="adj" fmla="val 200000"/>
            </a:avLst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7030A0"/>
                </a:solidFill>
              </a:rPr>
              <a:t>6</a:t>
            </a:r>
          </a:p>
        </p:txBody>
      </p:sp>
      <p:sp>
        <p:nvSpPr>
          <p:cNvPr id="56" name="Träne 55">
            <a:extLst>
              <a:ext uri="{FF2B5EF4-FFF2-40B4-BE49-F238E27FC236}">
                <a16:creationId xmlns:a16="http://schemas.microsoft.com/office/drawing/2014/main" id="{1C46CCBE-F56A-6B5A-4435-8D72BFA86639}"/>
              </a:ext>
            </a:extLst>
          </p:cNvPr>
          <p:cNvSpPr/>
          <p:nvPr/>
        </p:nvSpPr>
        <p:spPr>
          <a:xfrm flipH="1">
            <a:off x="11272765" y="1305771"/>
            <a:ext cx="451621" cy="365930"/>
          </a:xfrm>
          <a:prstGeom prst="teardrop">
            <a:avLst>
              <a:gd name="adj" fmla="val 200000"/>
            </a:avLst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025C6013-B19C-1F64-665B-78AEA1F3266F}"/>
              </a:ext>
            </a:extLst>
          </p:cNvPr>
          <p:cNvSpPr txBox="1"/>
          <p:nvPr/>
        </p:nvSpPr>
        <p:spPr>
          <a:xfrm>
            <a:off x="7109707" y="3654020"/>
            <a:ext cx="13427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submitting</a:t>
            </a:r>
            <a:endParaRPr lang="de-DE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B4E5C390-E121-CA99-ABB0-862A13855C3E}"/>
              </a:ext>
            </a:extLst>
          </p:cNvPr>
          <p:cNvSpPr txBox="1"/>
          <p:nvPr/>
        </p:nvSpPr>
        <p:spPr>
          <a:xfrm>
            <a:off x="7109708" y="830036"/>
            <a:ext cx="1342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refining</a:t>
            </a:r>
            <a:endParaRPr lang="de-DE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4524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52C66-7D72-1696-75B1-FC64C2437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9030E928-21FE-787A-E3FB-9608705FA590}"/>
              </a:ext>
            </a:extLst>
          </p:cNvPr>
          <p:cNvSpPr/>
          <p:nvPr/>
        </p:nvSpPr>
        <p:spPr>
          <a:xfrm>
            <a:off x="684190" y="281833"/>
            <a:ext cx="6425513" cy="951469"/>
          </a:xfrm>
          <a:prstGeom prst="roundRect">
            <a:avLst>
              <a:gd name="adj" fmla="val 8013"/>
            </a:avLst>
          </a:prstGeom>
          <a:gradFill>
            <a:gsLst>
              <a:gs pos="0">
                <a:srgbClr val="7030A0">
                  <a:alpha val="31149"/>
                </a:srgbClr>
              </a:gs>
              <a:gs pos="58000">
                <a:schemeClr val="accent2">
                  <a:lumMod val="40000"/>
                  <a:lumOff val="60000"/>
                </a:schemeClr>
              </a:gs>
              <a:gs pos="100000">
                <a:srgbClr val="7030A0"/>
              </a:gs>
            </a:gsLst>
            <a:lin ang="5400000" scaled="0"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SYNDERAI example instance generation kernel</a:t>
            </a:r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2EA118F7-7D72-4D0F-BEF9-39F5D33F245E}"/>
              </a:ext>
            </a:extLst>
          </p:cNvPr>
          <p:cNvSpPr/>
          <p:nvPr/>
        </p:nvSpPr>
        <p:spPr>
          <a:xfrm>
            <a:off x="1524157" y="1967097"/>
            <a:ext cx="4720281" cy="951470"/>
          </a:xfrm>
          <a:prstGeom prst="round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SUSHI compiler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BE414AB7-4283-460C-6EFD-3BE63CA583E1}"/>
              </a:ext>
            </a:extLst>
          </p:cNvPr>
          <p:cNvSpPr/>
          <p:nvPr/>
        </p:nvSpPr>
        <p:spPr>
          <a:xfrm>
            <a:off x="684194" y="3650704"/>
            <a:ext cx="2829697" cy="951470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Conversion</a:t>
            </a:r>
            <a:br>
              <a:rPr lang="en-US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FHIR JSON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sym typeface="Wingdings" pitchFamily="2" charset="2"/>
              </a:rPr>
              <a:t>to XML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7601C178-96C1-E3E4-819E-0CAEE7F91884}"/>
              </a:ext>
            </a:extLst>
          </p:cNvPr>
          <p:cNvSpPr/>
          <p:nvPr/>
        </p:nvSpPr>
        <p:spPr>
          <a:xfrm>
            <a:off x="4280010" y="3650704"/>
            <a:ext cx="2829697" cy="951470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Validation of</a:t>
            </a:r>
            <a:br>
              <a:rPr lang="en-US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FHIR JSON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8C76CE6F-BC19-8966-A3A1-77CD7900912A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3884298" y="1234960"/>
            <a:ext cx="0" cy="732137"/>
          </a:xfrm>
          <a:prstGeom prst="straightConnector1">
            <a:avLst/>
          </a:prstGeom>
          <a:ln w="889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2C65B163-CDF0-4AF4-31A1-BBEAC5BB5872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2099043" y="2918567"/>
            <a:ext cx="1785255" cy="732137"/>
          </a:xfrm>
          <a:prstGeom prst="straightConnector1">
            <a:avLst/>
          </a:prstGeom>
          <a:ln w="889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3A8E20CC-37E2-890C-6448-E34C4BD97D30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3884298" y="2918567"/>
            <a:ext cx="1810561" cy="732137"/>
          </a:xfrm>
          <a:prstGeom prst="straightConnector1">
            <a:avLst/>
          </a:prstGeom>
          <a:ln w="889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Abgerundetes Rechteck 21">
            <a:extLst>
              <a:ext uri="{FF2B5EF4-FFF2-40B4-BE49-F238E27FC236}">
                <a16:creationId xmlns:a16="http://schemas.microsoft.com/office/drawing/2014/main" id="{E9CEE0BC-FC7F-E2CD-1CE9-1354360DA99D}"/>
              </a:ext>
            </a:extLst>
          </p:cNvPr>
          <p:cNvSpPr/>
          <p:nvPr/>
        </p:nvSpPr>
        <p:spPr>
          <a:xfrm>
            <a:off x="684194" y="5334311"/>
            <a:ext cx="6425513" cy="951470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Waiting for semaphore processes to finish</a:t>
            </a:r>
          </a:p>
        </p:txBody>
      </p: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F9752EEA-E0A3-3020-7F03-4F6F1949E7DB}"/>
              </a:ext>
            </a:extLst>
          </p:cNvPr>
          <p:cNvCxnSpPr>
            <a:cxnSpLocks/>
            <a:stCxn id="6" idx="2"/>
            <a:endCxn id="22" idx="0"/>
          </p:cNvCxnSpPr>
          <p:nvPr/>
        </p:nvCxnSpPr>
        <p:spPr>
          <a:xfrm>
            <a:off x="2099043" y="4602174"/>
            <a:ext cx="1797908" cy="732137"/>
          </a:xfrm>
          <a:prstGeom prst="straightConnector1">
            <a:avLst/>
          </a:prstGeom>
          <a:ln w="889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871E615B-CBB9-2863-35E7-42FA234C7B20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 flipH="1">
            <a:off x="3896951" y="4602174"/>
            <a:ext cx="1797908" cy="732137"/>
          </a:xfrm>
          <a:prstGeom prst="straightConnector1">
            <a:avLst/>
          </a:prstGeom>
          <a:ln w="889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bgerundetes Rechteck 40">
            <a:extLst>
              <a:ext uri="{FF2B5EF4-FFF2-40B4-BE49-F238E27FC236}">
                <a16:creationId xmlns:a16="http://schemas.microsoft.com/office/drawing/2014/main" id="{AD1A3DD4-BA19-334B-A154-2A5CE6206607}"/>
              </a:ext>
            </a:extLst>
          </p:cNvPr>
          <p:cNvSpPr/>
          <p:nvPr/>
        </p:nvSpPr>
        <p:spPr>
          <a:xfrm>
            <a:off x="8452475" y="5334310"/>
            <a:ext cx="2829697" cy="951470"/>
          </a:xfrm>
          <a:prstGeom prst="roundRect">
            <a:avLst/>
          </a:prstGeom>
          <a:pattFill prst="pct50">
            <a:fgClr>
              <a:schemeClr val="accent1"/>
            </a:fgClr>
            <a:bgClr>
              <a:schemeClr val="bg1"/>
            </a:bgClr>
          </a:patt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Publishing recent results</a:t>
            </a:r>
          </a:p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@ SYNDERAI &amp; vi7eti</a:t>
            </a:r>
          </a:p>
        </p:txBody>
      </p: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714B8CCA-D4D5-89DB-E396-AAE4FA723017}"/>
              </a:ext>
            </a:extLst>
          </p:cNvPr>
          <p:cNvCxnSpPr>
            <a:cxnSpLocks/>
            <a:stCxn id="22" idx="3"/>
            <a:endCxn id="41" idx="1"/>
          </p:cNvCxnSpPr>
          <p:nvPr/>
        </p:nvCxnSpPr>
        <p:spPr>
          <a:xfrm flipV="1">
            <a:off x="7109707" y="5810045"/>
            <a:ext cx="1342768" cy="1"/>
          </a:xfrm>
          <a:prstGeom prst="straightConnector1">
            <a:avLst/>
          </a:prstGeom>
          <a:ln w="889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47">
            <a:extLst>
              <a:ext uri="{FF2B5EF4-FFF2-40B4-BE49-F238E27FC236}">
                <a16:creationId xmlns:a16="http://schemas.microsoft.com/office/drawing/2014/main" id="{B00E78CE-0147-5C0B-5D18-AC96D27A3EFD}"/>
              </a:ext>
            </a:extLst>
          </p:cNvPr>
          <p:cNvSpPr txBox="1"/>
          <p:nvPr/>
        </p:nvSpPr>
        <p:spPr>
          <a:xfrm>
            <a:off x="1524152" y="3024969"/>
            <a:ext cx="47202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forked                                      forked</a:t>
            </a:r>
            <a:endParaRPr lang="de-DE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12FF04C4-9924-E459-FFBA-3D988C7F5775}"/>
              </a:ext>
            </a:extLst>
          </p:cNvPr>
          <p:cNvSpPr txBox="1"/>
          <p:nvPr/>
        </p:nvSpPr>
        <p:spPr>
          <a:xfrm>
            <a:off x="684195" y="4814978"/>
            <a:ext cx="64255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finished                                      finished</a:t>
            </a:r>
            <a:endParaRPr lang="de-DE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0" name="Träne 49">
            <a:extLst>
              <a:ext uri="{FF2B5EF4-FFF2-40B4-BE49-F238E27FC236}">
                <a16:creationId xmlns:a16="http://schemas.microsoft.com/office/drawing/2014/main" id="{AD77FD7B-C92A-DF9B-4D9C-A8251CCFFEEC}"/>
              </a:ext>
            </a:extLst>
          </p:cNvPr>
          <p:cNvSpPr/>
          <p:nvPr/>
        </p:nvSpPr>
        <p:spPr>
          <a:xfrm>
            <a:off x="639126" y="1365340"/>
            <a:ext cx="481130" cy="365930"/>
          </a:xfrm>
          <a:prstGeom prst="teardrop">
            <a:avLst>
              <a:gd name="adj" fmla="val 200000"/>
            </a:avLst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7030A0"/>
                </a:solidFill>
              </a:rPr>
              <a:t>1</a:t>
            </a:r>
          </a:p>
        </p:txBody>
      </p:sp>
      <p:sp>
        <p:nvSpPr>
          <p:cNvPr id="51" name="Träne 50">
            <a:extLst>
              <a:ext uri="{FF2B5EF4-FFF2-40B4-BE49-F238E27FC236}">
                <a16:creationId xmlns:a16="http://schemas.microsoft.com/office/drawing/2014/main" id="{4A5130E1-74E4-3E18-611A-83440D647577}"/>
              </a:ext>
            </a:extLst>
          </p:cNvPr>
          <p:cNvSpPr/>
          <p:nvPr/>
        </p:nvSpPr>
        <p:spPr>
          <a:xfrm>
            <a:off x="965851" y="2788464"/>
            <a:ext cx="481130" cy="365930"/>
          </a:xfrm>
          <a:prstGeom prst="teardrop">
            <a:avLst>
              <a:gd name="adj" fmla="val 200000"/>
            </a:avLst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52" name="Träne 51">
            <a:extLst>
              <a:ext uri="{FF2B5EF4-FFF2-40B4-BE49-F238E27FC236}">
                <a16:creationId xmlns:a16="http://schemas.microsoft.com/office/drawing/2014/main" id="{8B5D2AC2-F28D-FFE8-A58D-CC564FCA23CB}"/>
              </a:ext>
            </a:extLst>
          </p:cNvPr>
          <p:cNvSpPr/>
          <p:nvPr/>
        </p:nvSpPr>
        <p:spPr>
          <a:xfrm>
            <a:off x="580178" y="4672984"/>
            <a:ext cx="481130" cy="365930"/>
          </a:xfrm>
          <a:prstGeom prst="teardrop">
            <a:avLst>
              <a:gd name="adj" fmla="val 200000"/>
            </a:avLst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7030A0"/>
                </a:solidFill>
              </a:rPr>
              <a:t>3</a:t>
            </a:r>
          </a:p>
        </p:txBody>
      </p:sp>
      <p:sp>
        <p:nvSpPr>
          <p:cNvPr id="53" name="Träne 52">
            <a:extLst>
              <a:ext uri="{FF2B5EF4-FFF2-40B4-BE49-F238E27FC236}">
                <a16:creationId xmlns:a16="http://schemas.microsoft.com/office/drawing/2014/main" id="{0A519F07-6C7E-CBEB-7261-39582354BB9B}"/>
              </a:ext>
            </a:extLst>
          </p:cNvPr>
          <p:cNvSpPr/>
          <p:nvPr/>
        </p:nvSpPr>
        <p:spPr>
          <a:xfrm flipH="1">
            <a:off x="7041146" y="4672984"/>
            <a:ext cx="451621" cy="365930"/>
          </a:xfrm>
          <a:prstGeom prst="teardrop">
            <a:avLst>
              <a:gd name="adj" fmla="val 200000"/>
            </a:avLst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7030A0"/>
                </a:solidFill>
              </a:rPr>
              <a:t>4</a:t>
            </a:r>
          </a:p>
        </p:txBody>
      </p:sp>
      <p:sp>
        <p:nvSpPr>
          <p:cNvPr id="57" name="Träne 56">
            <a:extLst>
              <a:ext uri="{FF2B5EF4-FFF2-40B4-BE49-F238E27FC236}">
                <a16:creationId xmlns:a16="http://schemas.microsoft.com/office/drawing/2014/main" id="{43BD20CA-A7F6-4901-51E3-101C1D653405}"/>
              </a:ext>
            </a:extLst>
          </p:cNvPr>
          <p:cNvSpPr/>
          <p:nvPr/>
        </p:nvSpPr>
        <p:spPr>
          <a:xfrm flipH="1">
            <a:off x="7109707" y="6369850"/>
            <a:ext cx="451621" cy="365930"/>
          </a:xfrm>
          <a:prstGeom prst="teardrop">
            <a:avLst>
              <a:gd name="adj" fmla="val 200000"/>
            </a:avLst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7030A0"/>
                </a:solidFill>
              </a:rPr>
              <a:t>5</a:t>
            </a:r>
          </a:p>
        </p:txBody>
      </p:sp>
      <p:sp>
        <p:nvSpPr>
          <p:cNvPr id="58" name="Träne 57">
            <a:extLst>
              <a:ext uri="{FF2B5EF4-FFF2-40B4-BE49-F238E27FC236}">
                <a16:creationId xmlns:a16="http://schemas.microsoft.com/office/drawing/2014/main" id="{B68DB84E-1E06-BB1E-4FB3-D9CC52D2CD07}"/>
              </a:ext>
            </a:extLst>
          </p:cNvPr>
          <p:cNvSpPr/>
          <p:nvPr/>
        </p:nvSpPr>
        <p:spPr>
          <a:xfrm flipH="1">
            <a:off x="11282172" y="6369850"/>
            <a:ext cx="451620" cy="365930"/>
          </a:xfrm>
          <a:prstGeom prst="teardrop">
            <a:avLst>
              <a:gd name="adj" fmla="val 200000"/>
            </a:avLst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7030A0"/>
                </a:solidFill>
              </a:rPr>
              <a:t>6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E5D05BE5-7D9B-01FC-2FA5-6DEB12A3FCA3}"/>
              </a:ext>
            </a:extLst>
          </p:cNvPr>
          <p:cNvSpPr txBox="1"/>
          <p:nvPr/>
        </p:nvSpPr>
        <p:spPr>
          <a:xfrm>
            <a:off x="7109707" y="5329982"/>
            <a:ext cx="13427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publishing</a:t>
            </a:r>
            <a:endParaRPr lang="de-DE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4956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47885-3356-54D6-8B7C-D018A30E9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01FEE7D6-0D53-86EE-058B-52BF336F1704}"/>
              </a:ext>
            </a:extLst>
          </p:cNvPr>
          <p:cNvSpPr/>
          <p:nvPr/>
        </p:nvSpPr>
        <p:spPr>
          <a:xfrm>
            <a:off x="684190" y="281833"/>
            <a:ext cx="6425513" cy="951469"/>
          </a:xfrm>
          <a:prstGeom prst="roundRect">
            <a:avLst>
              <a:gd name="adj" fmla="val 8013"/>
            </a:avLst>
          </a:prstGeom>
          <a:gradFill>
            <a:gsLst>
              <a:gs pos="0">
                <a:srgbClr val="7030A0">
                  <a:alpha val="31149"/>
                </a:srgbClr>
              </a:gs>
              <a:gs pos="58000">
                <a:schemeClr val="accent2">
                  <a:lumMod val="40000"/>
                  <a:lumOff val="60000"/>
                </a:schemeClr>
              </a:gs>
              <a:gs pos="100000">
                <a:srgbClr val="7030A0"/>
              </a:gs>
            </a:gsLst>
            <a:lin ang="5400000" scaled="0"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SYNDERAI example instance generation kernel</a:t>
            </a:r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BBF96EE7-6C42-59DB-69C6-1C5C88B6DE9B}"/>
              </a:ext>
            </a:extLst>
          </p:cNvPr>
          <p:cNvSpPr/>
          <p:nvPr/>
        </p:nvSpPr>
        <p:spPr>
          <a:xfrm>
            <a:off x="1524157" y="1967097"/>
            <a:ext cx="4720281" cy="951470"/>
          </a:xfrm>
          <a:prstGeom prst="round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SUSHI compiler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7836BF57-591A-BED7-DBEF-AF71210587B4}"/>
              </a:ext>
            </a:extLst>
          </p:cNvPr>
          <p:cNvSpPr/>
          <p:nvPr/>
        </p:nvSpPr>
        <p:spPr>
          <a:xfrm>
            <a:off x="684194" y="3650704"/>
            <a:ext cx="2829697" cy="951470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Conversion</a:t>
            </a:r>
            <a:br>
              <a:rPr lang="en-US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FHIR JSON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sym typeface="Wingdings" pitchFamily="2" charset="2"/>
              </a:rPr>
              <a:t>to XML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82CA0B31-006A-5EE8-2F3C-A4A777650CD6}"/>
              </a:ext>
            </a:extLst>
          </p:cNvPr>
          <p:cNvSpPr/>
          <p:nvPr/>
        </p:nvSpPr>
        <p:spPr>
          <a:xfrm>
            <a:off x="4280010" y="3650704"/>
            <a:ext cx="2829697" cy="951470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Validation of</a:t>
            </a:r>
            <a:br>
              <a:rPr lang="en-US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FHIR JSON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A6706802-94A1-9422-21E7-C068343DE649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3884298" y="1234960"/>
            <a:ext cx="0" cy="732137"/>
          </a:xfrm>
          <a:prstGeom prst="straightConnector1">
            <a:avLst/>
          </a:prstGeom>
          <a:ln w="889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F8C276BC-60AA-0B13-0878-CDEA9C177E45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2099043" y="2918567"/>
            <a:ext cx="1785255" cy="732137"/>
          </a:xfrm>
          <a:prstGeom prst="straightConnector1">
            <a:avLst/>
          </a:prstGeom>
          <a:ln w="889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BDB33AB6-5DA6-A0B1-B255-E6C9F0DE7392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3884298" y="2918567"/>
            <a:ext cx="1810561" cy="732137"/>
          </a:xfrm>
          <a:prstGeom prst="straightConnector1">
            <a:avLst/>
          </a:prstGeom>
          <a:ln w="889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Abgerundetes Rechteck 21">
            <a:extLst>
              <a:ext uri="{FF2B5EF4-FFF2-40B4-BE49-F238E27FC236}">
                <a16:creationId xmlns:a16="http://schemas.microsoft.com/office/drawing/2014/main" id="{6C2F0A05-9EEA-9F7E-8EE7-BE62AA6A6D3C}"/>
              </a:ext>
            </a:extLst>
          </p:cNvPr>
          <p:cNvSpPr/>
          <p:nvPr/>
        </p:nvSpPr>
        <p:spPr>
          <a:xfrm>
            <a:off x="684194" y="5334311"/>
            <a:ext cx="6425513" cy="951470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Waiting for semaphore processes to finish</a:t>
            </a:r>
          </a:p>
        </p:txBody>
      </p: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97F1F299-B37C-2B4A-1E72-6AB0CC56F178}"/>
              </a:ext>
            </a:extLst>
          </p:cNvPr>
          <p:cNvCxnSpPr>
            <a:cxnSpLocks/>
            <a:stCxn id="6" idx="2"/>
            <a:endCxn id="22" idx="0"/>
          </p:cNvCxnSpPr>
          <p:nvPr/>
        </p:nvCxnSpPr>
        <p:spPr>
          <a:xfrm>
            <a:off x="2099043" y="4602174"/>
            <a:ext cx="1797908" cy="732137"/>
          </a:xfrm>
          <a:prstGeom prst="straightConnector1">
            <a:avLst/>
          </a:prstGeom>
          <a:ln w="889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BB89D298-CD3E-5085-4DB7-17F9E7346C73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 flipH="1">
            <a:off x="3896951" y="4602174"/>
            <a:ext cx="1797908" cy="732137"/>
          </a:xfrm>
          <a:prstGeom prst="straightConnector1">
            <a:avLst/>
          </a:prstGeom>
          <a:ln w="889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Abgerundetes Rechteck 29">
            <a:extLst>
              <a:ext uri="{FF2B5EF4-FFF2-40B4-BE49-F238E27FC236}">
                <a16:creationId xmlns:a16="http://schemas.microsoft.com/office/drawing/2014/main" id="{48B0F949-50A0-9A33-2A56-2410983816E9}"/>
              </a:ext>
            </a:extLst>
          </p:cNvPr>
          <p:cNvSpPr/>
          <p:nvPr/>
        </p:nvSpPr>
        <p:spPr>
          <a:xfrm>
            <a:off x="8452477" y="3650704"/>
            <a:ext cx="2829697" cy="951470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AI analyzing the </a:t>
            </a:r>
          </a:p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validation logs</a:t>
            </a:r>
          </a:p>
        </p:txBody>
      </p:sp>
      <p:sp>
        <p:nvSpPr>
          <p:cNvPr id="31" name="Abgerundetes Rechteck 30">
            <a:extLst>
              <a:ext uri="{FF2B5EF4-FFF2-40B4-BE49-F238E27FC236}">
                <a16:creationId xmlns:a16="http://schemas.microsoft.com/office/drawing/2014/main" id="{8FE1A60D-F01C-E15F-11CF-94A9CF4DFBE0}"/>
              </a:ext>
            </a:extLst>
          </p:cNvPr>
          <p:cNvSpPr/>
          <p:nvPr/>
        </p:nvSpPr>
        <p:spPr>
          <a:xfrm>
            <a:off x="8452476" y="1967097"/>
            <a:ext cx="2829697" cy="951470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Creating SYNDERAI</a:t>
            </a:r>
            <a:br>
              <a:rPr lang="en-US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GitHub issues</a:t>
            </a:r>
          </a:p>
        </p:txBody>
      </p:sp>
      <p:sp>
        <p:nvSpPr>
          <p:cNvPr id="32" name="Abgerundetes Rechteck 31">
            <a:extLst>
              <a:ext uri="{FF2B5EF4-FFF2-40B4-BE49-F238E27FC236}">
                <a16:creationId xmlns:a16="http://schemas.microsoft.com/office/drawing/2014/main" id="{FD3E69DC-D12E-A294-0733-8DA129B2A263}"/>
              </a:ext>
            </a:extLst>
          </p:cNvPr>
          <p:cNvSpPr/>
          <p:nvPr/>
        </p:nvSpPr>
        <p:spPr>
          <a:xfrm>
            <a:off x="8452475" y="283491"/>
            <a:ext cx="2829697" cy="951469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Processing GitHub issues</a:t>
            </a:r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A310CBB3-0B12-4793-647A-16EC3A301484}"/>
              </a:ext>
            </a:extLst>
          </p:cNvPr>
          <p:cNvCxnSpPr>
            <a:cxnSpLocks/>
            <a:stCxn id="7" idx="3"/>
            <a:endCxn id="30" idx="1"/>
          </p:cNvCxnSpPr>
          <p:nvPr/>
        </p:nvCxnSpPr>
        <p:spPr>
          <a:xfrm>
            <a:off x="7109707" y="4126439"/>
            <a:ext cx="1342770" cy="0"/>
          </a:xfrm>
          <a:prstGeom prst="straightConnector1">
            <a:avLst/>
          </a:prstGeom>
          <a:ln w="889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287CD7EF-8403-37D5-BEFD-2AE72AE7AE3C}"/>
              </a:ext>
            </a:extLst>
          </p:cNvPr>
          <p:cNvCxnSpPr>
            <a:cxnSpLocks/>
            <a:stCxn id="30" idx="0"/>
            <a:endCxn id="31" idx="2"/>
          </p:cNvCxnSpPr>
          <p:nvPr/>
        </p:nvCxnSpPr>
        <p:spPr>
          <a:xfrm flipH="1" flipV="1">
            <a:off x="9867325" y="2918567"/>
            <a:ext cx="1" cy="732137"/>
          </a:xfrm>
          <a:prstGeom prst="straightConnector1">
            <a:avLst/>
          </a:prstGeom>
          <a:ln w="889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DD961354-D878-C503-A1BD-72D2580D7D2C}"/>
              </a:ext>
            </a:extLst>
          </p:cNvPr>
          <p:cNvCxnSpPr>
            <a:cxnSpLocks/>
            <a:stCxn id="31" idx="0"/>
            <a:endCxn id="32" idx="2"/>
          </p:cNvCxnSpPr>
          <p:nvPr/>
        </p:nvCxnSpPr>
        <p:spPr>
          <a:xfrm flipH="1" flipV="1">
            <a:off x="9867324" y="1234960"/>
            <a:ext cx="1" cy="732137"/>
          </a:xfrm>
          <a:prstGeom prst="straightConnector1">
            <a:avLst/>
          </a:prstGeom>
          <a:ln w="889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9104F14E-867B-B28C-9BD2-04333139E2E1}"/>
              </a:ext>
            </a:extLst>
          </p:cNvPr>
          <p:cNvCxnSpPr>
            <a:cxnSpLocks/>
            <a:stCxn id="32" idx="1"/>
          </p:cNvCxnSpPr>
          <p:nvPr/>
        </p:nvCxnSpPr>
        <p:spPr>
          <a:xfrm flipH="1" flipV="1">
            <a:off x="7109707" y="759225"/>
            <a:ext cx="1342768" cy="1"/>
          </a:xfrm>
          <a:prstGeom prst="straightConnector1">
            <a:avLst/>
          </a:prstGeom>
          <a:ln w="889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bgerundetes Rechteck 40">
            <a:extLst>
              <a:ext uri="{FF2B5EF4-FFF2-40B4-BE49-F238E27FC236}">
                <a16:creationId xmlns:a16="http://schemas.microsoft.com/office/drawing/2014/main" id="{F5B60034-D81E-BADA-E4C3-38CBEB7965D4}"/>
              </a:ext>
            </a:extLst>
          </p:cNvPr>
          <p:cNvSpPr/>
          <p:nvPr/>
        </p:nvSpPr>
        <p:spPr>
          <a:xfrm>
            <a:off x="8452475" y="5334310"/>
            <a:ext cx="2829697" cy="951470"/>
          </a:xfrm>
          <a:prstGeom prst="roundRect">
            <a:avLst/>
          </a:prstGeom>
          <a:pattFill prst="pct50">
            <a:fgClr>
              <a:schemeClr val="accent1"/>
            </a:fgClr>
            <a:bgClr>
              <a:schemeClr val="bg1"/>
            </a:bgClr>
          </a:patt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Publishing recent results</a:t>
            </a:r>
          </a:p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@ SYNDERAI &amp; vi7eti</a:t>
            </a:r>
          </a:p>
        </p:txBody>
      </p: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03409D1D-D65F-2097-60D9-736995A12146}"/>
              </a:ext>
            </a:extLst>
          </p:cNvPr>
          <p:cNvCxnSpPr>
            <a:cxnSpLocks/>
            <a:stCxn id="22" idx="3"/>
            <a:endCxn id="41" idx="1"/>
          </p:cNvCxnSpPr>
          <p:nvPr/>
        </p:nvCxnSpPr>
        <p:spPr>
          <a:xfrm flipV="1">
            <a:off x="7109707" y="5810045"/>
            <a:ext cx="1342768" cy="1"/>
          </a:xfrm>
          <a:prstGeom prst="straightConnector1">
            <a:avLst/>
          </a:prstGeom>
          <a:ln w="889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47">
            <a:extLst>
              <a:ext uri="{FF2B5EF4-FFF2-40B4-BE49-F238E27FC236}">
                <a16:creationId xmlns:a16="http://schemas.microsoft.com/office/drawing/2014/main" id="{BD7D002A-CD1E-C90A-8B97-7161BFFADF05}"/>
              </a:ext>
            </a:extLst>
          </p:cNvPr>
          <p:cNvSpPr txBox="1"/>
          <p:nvPr/>
        </p:nvSpPr>
        <p:spPr>
          <a:xfrm>
            <a:off x="1524152" y="3024969"/>
            <a:ext cx="47202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forked                                      forked</a:t>
            </a:r>
            <a:endParaRPr lang="de-DE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0FEC4B03-9C18-6BD5-877C-105E425653B5}"/>
              </a:ext>
            </a:extLst>
          </p:cNvPr>
          <p:cNvSpPr txBox="1"/>
          <p:nvPr/>
        </p:nvSpPr>
        <p:spPr>
          <a:xfrm>
            <a:off x="684195" y="4814978"/>
            <a:ext cx="64255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finished                                      finished</a:t>
            </a:r>
            <a:endParaRPr lang="de-DE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0" name="Träne 49">
            <a:extLst>
              <a:ext uri="{FF2B5EF4-FFF2-40B4-BE49-F238E27FC236}">
                <a16:creationId xmlns:a16="http://schemas.microsoft.com/office/drawing/2014/main" id="{143B7A41-9AD9-272E-4B4C-870F5E9AF689}"/>
              </a:ext>
            </a:extLst>
          </p:cNvPr>
          <p:cNvSpPr/>
          <p:nvPr/>
        </p:nvSpPr>
        <p:spPr>
          <a:xfrm>
            <a:off x="639126" y="1365340"/>
            <a:ext cx="481130" cy="365930"/>
          </a:xfrm>
          <a:prstGeom prst="teardrop">
            <a:avLst>
              <a:gd name="adj" fmla="val 200000"/>
            </a:avLst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7030A0"/>
                </a:solidFill>
              </a:rPr>
              <a:t>1</a:t>
            </a:r>
          </a:p>
        </p:txBody>
      </p:sp>
      <p:sp>
        <p:nvSpPr>
          <p:cNvPr id="51" name="Träne 50">
            <a:extLst>
              <a:ext uri="{FF2B5EF4-FFF2-40B4-BE49-F238E27FC236}">
                <a16:creationId xmlns:a16="http://schemas.microsoft.com/office/drawing/2014/main" id="{EF06FBEA-E396-4231-B222-6D3FC750F4F7}"/>
              </a:ext>
            </a:extLst>
          </p:cNvPr>
          <p:cNvSpPr/>
          <p:nvPr/>
        </p:nvSpPr>
        <p:spPr>
          <a:xfrm>
            <a:off x="965851" y="2788464"/>
            <a:ext cx="481130" cy="365930"/>
          </a:xfrm>
          <a:prstGeom prst="teardrop">
            <a:avLst>
              <a:gd name="adj" fmla="val 200000"/>
            </a:avLst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52" name="Träne 51">
            <a:extLst>
              <a:ext uri="{FF2B5EF4-FFF2-40B4-BE49-F238E27FC236}">
                <a16:creationId xmlns:a16="http://schemas.microsoft.com/office/drawing/2014/main" id="{D0E26E6F-EE5D-DA5D-1263-301E4D281DA0}"/>
              </a:ext>
            </a:extLst>
          </p:cNvPr>
          <p:cNvSpPr/>
          <p:nvPr/>
        </p:nvSpPr>
        <p:spPr>
          <a:xfrm>
            <a:off x="580178" y="4672984"/>
            <a:ext cx="481130" cy="365930"/>
          </a:xfrm>
          <a:prstGeom prst="teardrop">
            <a:avLst>
              <a:gd name="adj" fmla="val 200000"/>
            </a:avLst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7030A0"/>
                </a:solidFill>
              </a:rPr>
              <a:t>3</a:t>
            </a:r>
          </a:p>
        </p:txBody>
      </p:sp>
      <p:sp>
        <p:nvSpPr>
          <p:cNvPr id="53" name="Träne 52">
            <a:extLst>
              <a:ext uri="{FF2B5EF4-FFF2-40B4-BE49-F238E27FC236}">
                <a16:creationId xmlns:a16="http://schemas.microsoft.com/office/drawing/2014/main" id="{C5C6A951-21FB-F588-9B4E-CA91B98CF6D5}"/>
              </a:ext>
            </a:extLst>
          </p:cNvPr>
          <p:cNvSpPr/>
          <p:nvPr/>
        </p:nvSpPr>
        <p:spPr>
          <a:xfrm flipH="1">
            <a:off x="7041146" y="4672984"/>
            <a:ext cx="451621" cy="365930"/>
          </a:xfrm>
          <a:prstGeom prst="teardrop">
            <a:avLst>
              <a:gd name="adj" fmla="val 200000"/>
            </a:avLst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7030A0"/>
                </a:solidFill>
              </a:rPr>
              <a:t>4</a:t>
            </a:r>
          </a:p>
        </p:txBody>
      </p:sp>
      <p:sp>
        <p:nvSpPr>
          <p:cNvPr id="54" name="Träne 53">
            <a:extLst>
              <a:ext uri="{FF2B5EF4-FFF2-40B4-BE49-F238E27FC236}">
                <a16:creationId xmlns:a16="http://schemas.microsoft.com/office/drawing/2014/main" id="{77E8CEE7-F99B-1AB3-D6A5-A4BFD78046F5}"/>
              </a:ext>
            </a:extLst>
          </p:cNvPr>
          <p:cNvSpPr/>
          <p:nvPr/>
        </p:nvSpPr>
        <p:spPr>
          <a:xfrm flipH="1">
            <a:off x="11270811" y="4672984"/>
            <a:ext cx="451621" cy="365930"/>
          </a:xfrm>
          <a:prstGeom prst="teardrop">
            <a:avLst>
              <a:gd name="adj" fmla="val 200000"/>
            </a:avLst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7030A0"/>
                </a:solidFill>
              </a:rPr>
              <a:t>5</a:t>
            </a:r>
          </a:p>
        </p:txBody>
      </p:sp>
      <p:sp>
        <p:nvSpPr>
          <p:cNvPr id="55" name="Träne 54">
            <a:extLst>
              <a:ext uri="{FF2B5EF4-FFF2-40B4-BE49-F238E27FC236}">
                <a16:creationId xmlns:a16="http://schemas.microsoft.com/office/drawing/2014/main" id="{3C2F0954-047E-21A3-8B64-9B340F64EF95}"/>
              </a:ext>
            </a:extLst>
          </p:cNvPr>
          <p:cNvSpPr/>
          <p:nvPr/>
        </p:nvSpPr>
        <p:spPr>
          <a:xfrm flipH="1">
            <a:off x="11282172" y="2989378"/>
            <a:ext cx="451621" cy="365930"/>
          </a:xfrm>
          <a:prstGeom prst="teardrop">
            <a:avLst>
              <a:gd name="adj" fmla="val 200000"/>
            </a:avLst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7030A0"/>
                </a:solidFill>
              </a:rPr>
              <a:t>6</a:t>
            </a:r>
          </a:p>
        </p:txBody>
      </p:sp>
      <p:sp>
        <p:nvSpPr>
          <p:cNvPr id="56" name="Träne 55">
            <a:extLst>
              <a:ext uri="{FF2B5EF4-FFF2-40B4-BE49-F238E27FC236}">
                <a16:creationId xmlns:a16="http://schemas.microsoft.com/office/drawing/2014/main" id="{A6D80C00-7185-8F75-E8CA-D9B962998E66}"/>
              </a:ext>
            </a:extLst>
          </p:cNvPr>
          <p:cNvSpPr/>
          <p:nvPr/>
        </p:nvSpPr>
        <p:spPr>
          <a:xfrm flipH="1">
            <a:off x="11272765" y="1305771"/>
            <a:ext cx="451621" cy="365930"/>
          </a:xfrm>
          <a:prstGeom prst="teardrop">
            <a:avLst>
              <a:gd name="adj" fmla="val 200000"/>
            </a:avLst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57" name="Träne 56">
            <a:extLst>
              <a:ext uri="{FF2B5EF4-FFF2-40B4-BE49-F238E27FC236}">
                <a16:creationId xmlns:a16="http://schemas.microsoft.com/office/drawing/2014/main" id="{08A6894B-D52D-077B-3CEF-EC7CC4BBEA29}"/>
              </a:ext>
            </a:extLst>
          </p:cNvPr>
          <p:cNvSpPr/>
          <p:nvPr/>
        </p:nvSpPr>
        <p:spPr>
          <a:xfrm flipH="1">
            <a:off x="7109707" y="6369850"/>
            <a:ext cx="451621" cy="365930"/>
          </a:xfrm>
          <a:prstGeom prst="teardrop">
            <a:avLst>
              <a:gd name="adj" fmla="val 200000"/>
            </a:avLst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7030A0"/>
                </a:solidFill>
              </a:rPr>
              <a:t>8</a:t>
            </a:r>
          </a:p>
        </p:txBody>
      </p:sp>
      <p:sp>
        <p:nvSpPr>
          <p:cNvPr id="58" name="Träne 57">
            <a:extLst>
              <a:ext uri="{FF2B5EF4-FFF2-40B4-BE49-F238E27FC236}">
                <a16:creationId xmlns:a16="http://schemas.microsoft.com/office/drawing/2014/main" id="{952D8AD5-B3E8-E4C3-C56C-7D65E850EBF6}"/>
              </a:ext>
            </a:extLst>
          </p:cNvPr>
          <p:cNvSpPr/>
          <p:nvPr/>
        </p:nvSpPr>
        <p:spPr>
          <a:xfrm flipH="1">
            <a:off x="11270810" y="6369850"/>
            <a:ext cx="451621" cy="365930"/>
          </a:xfrm>
          <a:prstGeom prst="teardrop">
            <a:avLst>
              <a:gd name="adj" fmla="val 200000"/>
            </a:avLst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7030A0"/>
                </a:solidFill>
              </a:rPr>
              <a:t>9</a:t>
            </a: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1E6CB0DE-3DAC-F56D-7E47-DEB7D0470217}"/>
              </a:ext>
            </a:extLst>
          </p:cNvPr>
          <p:cNvSpPr txBox="1"/>
          <p:nvPr/>
        </p:nvSpPr>
        <p:spPr>
          <a:xfrm>
            <a:off x="7109707" y="3654020"/>
            <a:ext cx="13427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submitting</a:t>
            </a:r>
            <a:endParaRPr lang="de-DE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900349BE-3529-CE1A-1C6C-8B6C3798731D}"/>
              </a:ext>
            </a:extLst>
          </p:cNvPr>
          <p:cNvSpPr txBox="1"/>
          <p:nvPr/>
        </p:nvSpPr>
        <p:spPr>
          <a:xfrm>
            <a:off x="7109708" y="830036"/>
            <a:ext cx="1342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refining</a:t>
            </a:r>
            <a:endParaRPr lang="de-DE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5CD8D0AE-6AAB-B875-4727-A86AC33E9559}"/>
              </a:ext>
            </a:extLst>
          </p:cNvPr>
          <p:cNvSpPr txBox="1"/>
          <p:nvPr/>
        </p:nvSpPr>
        <p:spPr>
          <a:xfrm>
            <a:off x="7109707" y="5329982"/>
            <a:ext cx="13427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publishing</a:t>
            </a:r>
            <a:endParaRPr lang="de-DE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9437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C3403-E983-AFB7-F1D6-D9CB9FDF0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A856FF21-C6B5-C287-1A3F-E1EBA7CEEAED}"/>
              </a:ext>
            </a:extLst>
          </p:cNvPr>
          <p:cNvSpPr/>
          <p:nvPr/>
        </p:nvSpPr>
        <p:spPr>
          <a:xfrm>
            <a:off x="216241" y="1658895"/>
            <a:ext cx="6425513" cy="4457700"/>
          </a:xfrm>
          <a:prstGeom prst="roundRect">
            <a:avLst>
              <a:gd name="adj" fmla="val 8013"/>
            </a:avLst>
          </a:prstGeom>
          <a:gradFill>
            <a:gsLst>
              <a:gs pos="0">
                <a:srgbClr val="7030A0">
                  <a:alpha val="31149"/>
                </a:srgbClr>
              </a:gs>
              <a:gs pos="58000">
                <a:schemeClr val="accent2">
                  <a:lumMod val="40000"/>
                  <a:lumOff val="60000"/>
                </a:schemeClr>
              </a:gs>
              <a:gs pos="100000">
                <a:srgbClr val="7030A0"/>
              </a:gs>
            </a:gsLst>
            <a:lin ang="5400000" scaled="0"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SYNDERAI example instance </a:t>
            </a:r>
            <a:r>
              <a:rPr lang="en-US">
                <a:solidFill>
                  <a:srgbClr val="7030A0"/>
                </a:solidFill>
              </a:rPr>
              <a:t>generation kernel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99290C6F-6261-0C05-051F-5E7672588E88}"/>
              </a:ext>
            </a:extLst>
          </p:cNvPr>
          <p:cNvSpPr/>
          <p:nvPr/>
        </p:nvSpPr>
        <p:spPr>
          <a:xfrm>
            <a:off x="7309020" y="5074507"/>
            <a:ext cx="6425513" cy="951470"/>
          </a:xfrm>
          <a:prstGeom prst="round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Post-processing example Bundles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6586F0C5-9F5D-E5EE-3327-6A99B5E9D231}"/>
              </a:ext>
            </a:extLst>
          </p:cNvPr>
          <p:cNvSpPr/>
          <p:nvPr/>
        </p:nvSpPr>
        <p:spPr>
          <a:xfrm>
            <a:off x="8165757" y="2855440"/>
            <a:ext cx="2829697" cy="951470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Conversion</a:t>
            </a:r>
            <a:br>
              <a:rPr lang="en-US" dirty="0"/>
            </a:br>
            <a:r>
              <a:rPr lang="en-US" dirty="0"/>
              <a:t>FHIR JSON </a:t>
            </a:r>
            <a:r>
              <a:rPr lang="en-US" dirty="0">
                <a:sym typeface="Wingdings" pitchFamily="2" charset="2"/>
              </a:rPr>
              <a:t>+ XML</a:t>
            </a:r>
            <a:endParaRPr lang="en-US" dirty="0"/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085401FC-3767-0F13-212D-E5E76EA95B54}"/>
              </a:ext>
            </a:extLst>
          </p:cNvPr>
          <p:cNvSpPr/>
          <p:nvPr/>
        </p:nvSpPr>
        <p:spPr>
          <a:xfrm>
            <a:off x="8165757" y="5473011"/>
            <a:ext cx="2829697" cy="951470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Validation</a:t>
            </a:r>
            <a:br>
              <a:rPr lang="en-US" dirty="0"/>
            </a:br>
            <a:r>
              <a:rPr lang="en-US" dirty="0"/>
              <a:t>FHIR JSON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DC4B5ADA-EF29-932E-54A4-11200460764E}"/>
              </a:ext>
            </a:extLst>
          </p:cNvPr>
          <p:cNvCxnSpPr>
            <a:cxnSpLocks/>
          </p:cNvCxnSpPr>
          <p:nvPr/>
        </p:nvCxnSpPr>
        <p:spPr>
          <a:xfrm>
            <a:off x="699670" y="1075039"/>
            <a:ext cx="0" cy="1307756"/>
          </a:xfrm>
          <a:prstGeom prst="straightConnector1">
            <a:avLst/>
          </a:prstGeom>
          <a:ln w="889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2A2EADEE-C070-E672-7B87-E4C8ABC18462}"/>
              </a:ext>
            </a:extLst>
          </p:cNvPr>
          <p:cNvCxnSpPr>
            <a:cxnSpLocks/>
          </p:cNvCxnSpPr>
          <p:nvPr/>
        </p:nvCxnSpPr>
        <p:spPr>
          <a:xfrm flipV="1">
            <a:off x="7707526" y="5014781"/>
            <a:ext cx="3746159" cy="325397"/>
          </a:xfrm>
          <a:prstGeom prst="straightConnector1">
            <a:avLst/>
          </a:prstGeom>
          <a:ln w="889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D0367D53-A41E-BEB2-BD26-6647355EE9AE}"/>
              </a:ext>
            </a:extLst>
          </p:cNvPr>
          <p:cNvCxnSpPr>
            <a:cxnSpLocks/>
          </p:cNvCxnSpPr>
          <p:nvPr/>
        </p:nvCxnSpPr>
        <p:spPr>
          <a:xfrm flipV="1">
            <a:off x="7511997" y="4577717"/>
            <a:ext cx="3560563" cy="77119"/>
          </a:xfrm>
          <a:prstGeom prst="straightConnector1">
            <a:avLst/>
          </a:prstGeom>
          <a:ln w="889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Abgerundetes Rechteck 21">
            <a:extLst>
              <a:ext uri="{FF2B5EF4-FFF2-40B4-BE49-F238E27FC236}">
                <a16:creationId xmlns:a16="http://schemas.microsoft.com/office/drawing/2014/main" id="{EF894A14-2EB5-399E-B5CC-FF01F25E39F5}"/>
              </a:ext>
            </a:extLst>
          </p:cNvPr>
          <p:cNvSpPr/>
          <p:nvPr/>
        </p:nvSpPr>
        <p:spPr>
          <a:xfrm>
            <a:off x="395414" y="2382795"/>
            <a:ext cx="6067168" cy="782401"/>
          </a:xfrm>
          <a:prstGeom prst="roundRect">
            <a:avLst/>
          </a:prstGeom>
          <a:gradFill>
            <a:gsLst>
              <a:gs pos="0">
                <a:schemeClr val="accent6">
                  <a:tint val="80000"/>
                  <a:satMod val="107000"/>
                  <a:lumMod val="103000"/>
                </a:schemeClr>
              </a:gs>
              <a:gs pos="100000">
                <a:schemeClr val="accent6">
                  <a:tint val="82000"/>
                  <a:satMod val="109000"/>
                  <a:lumMod val="103000"/>
                </a:schemeClr>
              </a:gs>
            </a:gsLst>
            <a:lin ang="5400000" scaled="0"/>
          </a:gradFill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Testing, collecting and pre-compiling</a:t>
            </a:r>
          </a:p>
        </p:txBody>
      </p: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CC0EFC2D-D329-126F-0547-E9D56702CF21}"/>
              </a:ext>
            </a:extLst>
          </p:cNvPr>
          <p:cNvCxnSpPr>
            <a:cxnSpLocks/>
          </p:cNvCxnSpPr>
          <p:nvPr/>
        </p:nvCxnSpPr>
        <p:spPr>
          <a:xfrm>
            <a:off x="9313903" y="708971"/>
            <a:ext cx="1526061" cy="732137"/>
          </a:xfrm>
          <a:prstGeom prst="straightConnector1">
            <a:avLst/>
          </a:prstGeom>
          <a:ln w="889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4F268DB4-DB5C-1E06-4FED-2D0A9CA5EAB3}"/>
              </a:ext>
            </a:extLst>
          </p:cNvPr>
          <p:cNvCxnSpPr>
            <a:cxnSpLocks/>
          </p:cNvCxnSpPr>
          <p:nvPr/>
        </p:nvCxnSpPr>
        <p:spPr>
          <a:xfrm flipH="1">
            <a:off x="8574558" y="662120"/>
            <a:ext cx="2071817" cy="732137"/>
          </a:xfrm>
          <a:prstGeom prst="straightConnector1">
            <a:avLst/>
          </a:prstGeom>
          <a:ln w="889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E58E9912-9914-7757-95B7-CF17D51B992C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10995454" y="3675103"/>
            <a:ext cx="1299521" cy="2273643"/>
          </a:xfrm>
          <a:prstGeom prst="straightConnector1">
            <a:avLst/>
          </a:prstGeom>
          <a:ln w="889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E9286C7D-AF23-02D1-A21D-68E8065C9CDE}"/>
              </a:ext>
            </a:extLst>
          </p:cNvPr>
          <p:cNvCxnSpPr>
            <a:cxnSpLocks/>
          </p:cNvCxnSpPr>
          <p:nvPr/>
        </p:nvCxnSpPr>
        <p:spPr>
          <a:xfrm flipV="1">
            <a:off x="9356126" y="3598905"/>
            <a:ext cx="0" cy="732137"/>
          </a:xfrm>
          <a:prstGeom prst="straightConnector1">
            <a:avLst/>
          </a:prstGeom>
          <a:ln w="889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891C763D-B987-7716-215A-A88606F4D665}"/>
              </a:ext>
            </a:extLst>
          </p:cNvPr>
          <p:cNvCxnSpPr>
            <a:cxnSpLocks/>
          </p:cNvCxnSpPr>
          <p:nvPr/>
        </p:nvCxnSpPr>
        <p:spPr>
          <a:xfrm flipV="1">
            <a:off x="9356125" y="1658896"/>
            <a:ext cx="0" cy="723900"/>
          </a:xfrm>
          <a:prstGeom prst="straightConnector1">
            <a:avLst/>
          </a:prstGeom>
          <a:ln w="889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Zylinder 41">
            <a:extLst>
              <a:ext uri="{FF2B5EF4-FFF2-40B4-BE49-F238E27FC236}">
                <a16:creationId xmlns:a16="http://schemas.microsoft.com/office/drawing/2014/main" id="{592E522F-F468-8B6E-8719-01D8E741E51D}"/>
              </a:ext>
            </a:extLst>
          </p:cNvPr>
          <p:cNvSpPr/>
          <p:nvPr/>
        </p:nvSpPr>
        <p:spPr>
          <a:xfrm>
            <a:off x="216243" y="129489"/>
            <a:ext cx="2928550" cy="966917"/>
          </a:xfrm>
          <a:prstGeom prst="can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Synthetic Clinical Stories </a:t>
            </a:r>
          </a:p>
          <a:p>
            <a:pPr algn="ctr"/>
            <a:r>
              <a:rPr lang="en-US" dirty="0"/>
              <a:t>by </a:t>
            </a:r>
            <a:r>
              <a:rPr lang="en-US" dirty="0" err="1"/>
              <a:t>Synthea</a:t>
            </a:r>
            <a:r>
              <a:rPr lang="en-US" baseline="30000" dirty="0" err="1"/>
              <a:t>TM</a:t>
            </a:r>
            <a:endParaRPr lang="en-US" dirty="0"/>
          </a:p>
        </p:txBody>
      </p:sp>
      <p:sp>
        <p:nvSpPr>
          <p:cNvPr id="43" name="Zylinder 42">
            <a:extLst>
              <a:ext uri="{FF2B5EF4-FFF2-40B4-BE49-F238E27FC236}">
                <a16:creationId xmlns:a16="http://schemas.microsoft.com/office/drawing/2014/main" id="{06D8D2F2-CB17-DEDF-EC0F-EC3289CEA6F5}"/>
              </a:ext>
            </a:extLst>
          </p:cNvPr>
          <p:cNvSpPr/>
          <p:nvPr/>
        </p:nvSpPr>
        <p:spPr>
          <a:xfrm>
            <a:off x="3713206" y="129489"/>
            <a:ext cx="2928550" cy="966917"/>
          </a:xfrm>
          <a:prstGeom prst="can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32k+ Synthetic</a:t>
            </a:r>
          </a:p>
          <a:p>
            <a:pPr algn="ctr"/>
            <a:r>
              <a:rPr lang="en-US" dirty="0"/>
              <a:t>European Citizen data</a:t>
            </a:r>
          </a:p>
        </p:txBody>
      </p: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90FF22EF-E105-3E21-F00E-E949912E856D}"/>
              </a:ext>
            </a:extLst>
          </p:cNvPr>
          <p:cNvCxnSpPr>
            <a:cxnSpLocks/>
          </p:cNvCxnSpPr>
          <p:nvPr/>
        </p:nvCxnSpPr>
        <p:spPr>
          <a:xfrm>
            <a:off x="6144943" y="1080641"/>
            <a:ext cx="0" cy="1302154"/>
          </a:xfrm>
          <a:prstGeom prst="straightConnector1">
            <a:avLst/>
          </a:prstGeom>
          <a:ln w="889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Abgerundetes Rechteck 72">
            <a:extLst>
              <a:ext uri="{FF2B5EF4-FFF2-40B4-BE49-F238E27FC236}">
                <a16:creationId xmlns:a16="http://schemas.microsoft.com/office/drawing/2014/main" id="{AD9CDD0C-9495-5168-8755-12482CFD4C7D}"/>
              </a:ext>
            </a:extLst>
          </p:cNvPr>
          <p:cNvSpPr/>
          <p:nvPr/>
        </p:nvSpPr>
        <p:spPr>
          <a:xfrm>
            <a:off x="395414" y="3280032"/>
            <a:ext cx="6067168" cy="782401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Pairing clinical stories and demographics</a:t>
            </a:r>
            <a:br>
              <a:rPr lang="en-US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data using stratification</a:t>
            </a:r>
          </a:p>
        </p:txBody>
      </p:sp>
      <p:sp>
        <p:nvSpPr>
          <p:cNvPr id="74" name="Abgerundetes Rechteck 73">
            <a:extLst>
              <a:ext uri="{FF2B5EF4-FFF2-40B4-BE49-F238E27FC236}">
                <a16:creationId xmlns:a16="http://schemas.microsoft.com/office/drawing/2014/main" id="{2C99B087-5435-1197-85F8-A5EF41C681CB}"/>
              </a:ext>
            </a:extLst>
          </p:cNvPr>
          <p:cNvSpPr/>
          <p:nvPr/>
        </p:nvSpPr>
        <p:spPr>
          <a:xfrm>
            <a:off x="395414" y="4177269"/>
            <a:ext cx="6067168" cy="782401"/>
          </a:xfrm>
          <a:prstGeom prst="round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Process synthetic patient`s clinical stories</a:t>
            </a:r>
          </a:p>
        </p:txBody>
      </p:sp>
      <p:sp>
        <p:nvSpPr>
          <p:cNvPr id="75" name="Abgerundetes Rechteck 74">
            <a:extLst>
              <a:ext uri="{FF2B5EF4-FFF2-40B4-BE49-F238E27FC236}">
                <a16:creationId xmlns:a16="http://schemas.microsoft.com/office/drawing/2014/main" id="{70DDE191-3A08-64FB-C97B-1972103D6E20}"/>
              </a:ext>
            </a:extLst>
          </p:cNvPr>
          <p:cNvSpPr/>
          <p:nvPr/>
        </p:nvSpPr>
        <p:spPr>
          <a:xfrm>
            <a:off x="395414" y="5074507"/>
            <a:ext cx="6067168" cy="782401"/>
          </a:xfrm>
          <a:prstGeom prst="round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Emitting FSH</a:t>
            </a:r>
          </a:p>
        </p:txBody>
      </p:sp>
    </p:spTree>
    <p:extLst>
      <p:ext uri="{BB962C8B-B14F-4D97-AF65-F5344CB8AC3E}">
        <p14:creationId xmlns:p14="http://schemas.microsoft.com/office/powerpoint/2010/main" val="27615757"/>
      </p:ext>
    </p:extLst>
  </p:cSld>
  <p:clrMapOvr>
    <a:masterClrMapping/>
  </p:clrMapOvr>
</p:sld>
</file>

<file path=ppt/theme/theme1.xml><?xml version="1.0" encoding="utf-8"?>
<a:theme xmlns:a="http://schemas.openxmlformats.org/drawingml/2006/main" name="Paket">
  <a:themeElements>
    <a:clrScheme name="Paket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ke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ket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0</TotalTime>
  <Words>262</Words>
  <Application>Microsoft Macintosh PowerPoint</Application>
  <PresentationFormat>Breitbild</PresentationFormat>
  <Paragraphs>95</Paragraphs>
  <Slides>6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1" baseType="lpstr">
      <vt:lpstr>Aptos</vt:lpstr>
      <vt:lpstr>Arial</vt:lpstr>
      <vt:lpstr>Gill Sans MT</vt:lpstr>
      <vt:lpstr>Wingdings</vt:lpstr>
      <vt:lpstr>Paket</vt:lpstr>
      <vt:lpstr>SYNDERAI FIGURES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Kai U. Heitmann</dc:creator>
  <cp:lastModifiedBy>Dr. Kai U. Heitmann</cp:lastModifiedBy>
  <cp:revision>29</cp:revision>
  <dcterms:created xsi:type="dcterms:W3CDTF">2026-03-15T09:43:39Z</dcterms:created>
  <dcterms:modified xsi:type="dcterms:W3CDTF">2026-03-17T07:17:24Z</dcterms:modified>
</cp:coreProperties>
</file>